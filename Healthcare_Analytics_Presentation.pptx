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Patient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Report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457200" y="2514600"/>
            <a:ext cx="2286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97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Analyst Project | Healthcare Domain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1920240" cy="914400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38587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4325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3840480"/>
            <a:ext cx="1920240" cy="914400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06040" y="38587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$27.1M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06040" y="4325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840480"/>
            <a:ext cx="1920240" cy="914400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0" y="38587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4325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3840480"/>
            <a:ext cx="1920240" cy="914400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03720" y="385876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03720" y="432511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 Excel  ·  SQL  ·  Python  ·  Tableau  ·  PowerPoint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3931920" cy="1737360"/>
          </a:xfrm>
          <a:prstGeom prst="rect">
            <a:avLst/>
          </a:prstGeom>
          <a:solidFill>
            <a:srgbClr val="E8F6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8872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regional hospital network is experiencing rising readmission rates, revenue leakage, and inconsistent patient satisfaction across departments. 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full analytical pipeline from raw data to actionable insights to drive operational improvements.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66344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Toolkit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347472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143000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5074920" y="1143000"/>
            <a:ext cx="3703320" cy="475488"/>
          </a:xfrm>
          <a:prstGeom prst="rect">
            <a:avLst/>
          </a:prstGeom>
          <a:solidFill>
            <a:srgbClr val="F5F9FA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114300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— Data cleaning, pivot tables, formula analysis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810512"/>
            <a:ext cx="347472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810512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074920" y="1810512"/>
            <a:ext cx="3703320" cy="475488"/>
          </a:xfrm>
          <a:prstGeom prst="rect">
            <a:avLst/>
          </a:prstGeom>
          <a:solidFill>
            <a:srgbClr val="F5F9FA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181051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Querying, aggregations, CTEs, window functions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478024"/>
            <a:ext cx="347472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478024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074920" y="2478024"/>
            <a:ext cx="3703320" cy="475488"/>
          </a:xfrm>
          <a:prstGeom prst="rect">
            <a:avLst/>
          </a:prstGeom>
          <a:solidFill>
            <a:srgbClr val="F5F9FA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247802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EDA, visualizations, statistical analysis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145536"/>
            <a:ext cx="347472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145536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074920" y="3145536"/>
            <a:ext cx="3703320" cy="475488"/>
          </a:xfrm>
          <a:prstGeom prst="rect">
            <a:avLst/>
          </a:prstGeom>
          <a:solidFill>
            <a:srgbClr val="F5F9FA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314553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— Interactive dashboards &amp; executive reports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813048"/>
            <a:ext cx="347472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813048"/>
            <a:ext cx="3474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074920" y="3813048"/>
            <a:ext cx="3703320" cy="475488"/>
          </a:xfrm>
          <a:prstGeom prst="rect">
            <a:avLst/>
          </a:prstGeom>
          <a:solidFill>
            <a:srgbClr val="F5F9FA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81304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— Executive storytelling &amp; project presentation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Raw Data  →  Clean  →  SQL Analysis  →  Python EDA  →  Tableau Dashboards  →  Insights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DATASET &amp; EXCEL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Hospital Patient Records (2023)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645920"/>
                <a:gridCol w="48463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Patient_ID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patient identifier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 / Department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Facility and clinical unit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Admit_Date / Discharge_Date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Hospitalization timeline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Length_of_Stay_Days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 = Discharge − Admit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Bill_Amount / Insurance_Paid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billing data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Patient_Satisfaction_Score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(0-10)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Post-discharge survey score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Readmitted_30Days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(0/1)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30-day readmission flag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Insurance_Type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Medicare, Medicaid, Private…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Discharged, Transferred, Expired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977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Tasks Performed: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42519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Remove duplicates &amp; standardize date formats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VLOOKUP/INDEX-MATCH for department codes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Pivot Tables: Revenue by dept, Readmission by hospital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Conditional formatting on KPI thresholds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Summary Dashboard with slicers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SQL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02920" y="106984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checks, date validation, outlier flags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48132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KPIs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72821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revenue, avg LOS, monthly admissions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39696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3969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3865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coverage %, cost by LOS bucket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798064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79806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Metrics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30449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by diagnosis, high-risk patients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3456432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5643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37033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CTEs, RANK(), running totals, staff JOINs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114800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114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for Tableau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3616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vw_KPI_Summary, vw_Financial_Summary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804672"/>
            <a:ext cx="5669280" cy="4160520"/>
          </a:xfrm>
          <a:prstGeom prst="rect">
            <a:avLst/>
          </a:prstGeom>
          <a:solidFill>
            <a:srgbClr val="1A2E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896112"/>
            <a:ext cx="53949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-- 30-Day Readmission by Department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Department,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Total_Patients,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SUM(Readmitted_30Days) AS Readmissions,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ROUND(AVG(Readmitted_30Days)*100,1)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Readmission_Rate_Pct,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ROUND(AVG(Bill_Amount),0) AS Avg_Bill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patient_records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Department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Readmission_Rate_Pct DESC;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Running Revenue (Window Function)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Monthly AS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STRFTIME('%Y-%m', Admit_Date) AS Month,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SUM(Bill_Amount) AS Revenue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patient_records GROUP BY Month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Month, Revenue,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SUM(Revenue) OVER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(ORDER BY Month) AS Cumulative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Monthly;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SQL Queries  ·  2 Analytical Views  ·  Window Functions &amp; CTEs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PYTHON EXPLORATORY DATA ANALYSIS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057400" y="804672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57400" y="8046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749040" y="804672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8046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40680" y="804672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8046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132320" y="804672"/>
            <a:ext cx="1508760" cy="320040"/>
          </a:xfrm>
          <a:prstGeom prst="roundRect">
            <a:avLst>
              <a:gd name="adj" fmla="val 14286"/>
            </a:avLst>
          </a:prstGeom>
          <a:solidFill>
            <a:srgbClr val="065A82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8046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261872"/>
            <a:ext cx="2743200" cy="1600200"/>
          </a:xfrm>
          <a:prstGeom prst="rect">
            <a:avLst/>
          </a:prstGeom>
          <a:solidFill>
            <a:srgbClr val="E8F6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1261872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2618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Profiling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16642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Shape, dtypes, null check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2011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Describe() stats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235915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Duplicate detection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91840" y="1261872"/>
            <a:ext cx="2743200" cy="1600200"/>
          </a:xfrm>
          <a:prstGeom prst="rect">
            <a:avLst/>
          </a:prstGeom>
          <a:solidFill>
            <a:srgbClr val="E8F6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1261872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12618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Trends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401568" y="16642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Monthly volume plot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01568" y="2011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Seasonal pattern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01568" y="235915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Rolling avg trend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1261872"/>
            <a:ext cx="2743200" cy="1600200"/>
          </a:xfrm>
          <a:prstGeom prst="rect">
            <a:avLst/>
          </a:prstGeom>
          <a:solidFill>
            <a:srgbClr val="E8F6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261872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0" y="12618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EDA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27648" y="166420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by hospital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27648" y="201168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Insurance coverage heatmap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27648" y="235915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vs LOS curve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044952"/>
            <a:ext cx="2743200" cy="1600200"/>
          </a:xfrm>
          <a:prstGeom prst="rect">
            <a:avLst/>
          </a:prstGeom>
          <a:solidFill>
            <a:srgbClr val="E8F6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044952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0449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Metrics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" y="34472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Readmission rates/dept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" y="3794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Satisfaction vs LOS scatter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5488" y="4142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Outcome breakdown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3044952"/>
            <a:ext cx="2743200" cy="1600200"/>
          </a:xfrm>
          <a:prstGeom prst="rect">
            <a:avLst/>
          </a:prstGeom>
          <a:solidFill>
            <a:srgbClr val="E8F6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291840" y="3044952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91840" y="30449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401568" y="34472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 distribution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01568" y="3794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Gender analysis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401568" y="4142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Age-group risk table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17920" y="3044952"/>
            <a:ext cx="2743200" cy="1600200"/>
          </a:xfrm>
          <a:prstGeom prst="rect">
            <a:avLst/>
          </a:prstGeom>
          <a:solidFill>
            <a:srgbClr val="E8F6F8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217920" y="3044952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17920" y="30449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27648" y="344728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r(LOS, Satisfaction) = −0.09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27648" y="37947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r(Age, Bill) = +0.24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327648" y="4142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Pearson heatmap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KEY ANALYTICAL FINDINGS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920240" cy="8412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795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68880" y="777240"/>
            <a:ext cx="1920240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795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$27.1M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68880" y="12618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17720" y="777240"/>
            <a:ext cx="1920240" cy="8412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795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7.0/10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12618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Satisfaction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66560" y="777240"/>
            <a:ext cx="1920240" cy="84124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66560" y="795528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766560" y="12618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Rate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78308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1783080"/>
            <a:ext cx="54864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18745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Neurology: Highest Readmission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" y="218541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Neurology recorded a 16.1% readmission rate — 3.3pp above network average. Stroke &amp; Parkinson's cases drive this. Recommend discharge follow-up protocols.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178308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783080"/>
            <a:ext cx="54864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73752" y="18745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Private Insurance = Highest Revenue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73752" y="218541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Insurance patients generate 34% more revenue per visit ($18K avg) vs Medicaid ($9K). Insurance mix optimization could unlock $2.1M annually.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38328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383280"/>
            <a:ext cx="54864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" y="34747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LOS &amp; Satisfaction Are Inversely Correlated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" y="378561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r = −0.09. Patients staying 15+ days rate satisfaction 6.3/10 vs 7.4/10 for 1–3 day stays. Prioritize discharge planning.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3383280"/>
            <a:ext cx="41605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383280"/>
            <a:ext cx="54864" cy="1463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73752" y="347472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Oncology: Lowest Patient Satisfaction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73752" y="3785616"/>
            <a:ext cx="3886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Oncology scores 6.4/10 — 0.6pts below network avg. Pain management &amp; communication scores are the lowest sub-scores. Intervention recommended.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TABLEAU DASHBOARD DESIGN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834640" cy="4187952"/>
          </a:xfrm>
          <a:prstGeom prst="rect">
            <a:avLst/>
          </a:prstGeom>
          <a:solidFill>
            <a:srgbClr val="F8FBFC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283464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1: Executive KPIs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84048" y="1389888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389888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17320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Cards: Patients, Revenue, LOS, Readmission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4048" y="2194560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2194560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21992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Admissions Trend Line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" y="2999232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" y="2999232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26664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Revenue Bar Chart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3803904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3803904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831336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Filters: Date, Hospital, Insurance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46120" y="804672"/>
            <a:ext cx="2834640" cy="4187952"/>
          </a:xfrm>
          <a:prstGeom prst="rect">
            <a:avLst/>
          </a:prstGeom>
          <a:solidFill>
            <a:srgbClr val="F8FBFC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46120" y="804672"/>
            <a:ext cx="28346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8046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2: Quality &amp; Readmissions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355848" y="1389888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55848" y="1389888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417320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Rate % by Dept (ref line at 10%)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55848" y="2194560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55848" y="2194560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2221992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Heatmap (Dept × Insurance)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55848" y="2999232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55848" y="2999232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0" y="3026664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Scatter: Age vs Satisfaction (sized by Revenue)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355848" y="3803904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55848" y="3803904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0" y="3831336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Drill-down: Diagnosis → LOS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17920" y="804672"/>
            <a:ext cx="2834640" cy="4187952"/>
          </a:xfrm>
          <a:prstGeom prst="rect">
            <a:avLst/>
          </a:prstGeom>
          <a:solidFill>
            <a:srgbClr val="F8FBFC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804672"/>
            <a:ext cx="283464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804672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3: Financial Analysis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327648" y="1389888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27648" y="1389888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46520" y="1417320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Bar: Insurance Coverage vs OOP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27648" y="2194560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27648" y="2194560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2221992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LOS Bucket (Trend Line)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327648" y="2999232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27648" y="2999232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3026664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Revenue Packed Bubbles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327648" y="3803904"/>
            <a:ext cx="261518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27648" y="3803904"/>
            <a:ext cx="54864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46520" y="3831336"/>
            <a:ext cx="24231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Cost Share % by Insurance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B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Patient_Records + Staff_Data  ·  Connection: Excel / CSV  ·  Refresh: Scheduled Daily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160520" cy="1874520"/>
          </a:xfrm>
          <a:prstGeom prst="rect">
            <a:avLst/>
          </a:prstGeom>
          <a:solidFill>
            <a:srgbClr val="0D334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1005840"/>
            <a:ext cx="640080" cy="2286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0058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51560" y="960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Neurology Readmissions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post-discharge follow-up calls within 72 hours for Neurology patients. Target: reduce from 16.1% → 10% (industry benchmark). Est. savings: $340K/yr.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822960"/>
            <a:ext cx="4160520" cy="1874520"/>
          </a:xfrm>
          <a:prstGeom prst="rect">
            <a:avLst/>
          </a:prstGeom>
          <a:solidFill>
            <a:srgbClr val="0D334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96012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9601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005840"/>
            <a:ext cx="640080" cy="2286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0058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532120" y="9601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Oncology Experience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41732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pain management protocol review and patient communication training. Satisfaction target: raise from 6.4 → 7.5. Reduce LOS by 15% for lower-acuity cases.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880360"/>
            <a:ext cx="4160520" cy="1874520"/>
          </a:xfrm>
          <a:prstGeom prst="rect">
            <a:avLst/>
          </a:prstGeom>
          <a:solidFill>
            <a:srgbClr val="0D334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01752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17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0" y="3063240"/>
            <a:ext cx="640080" cy="228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3063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5156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Insurance Mix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347472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Private Insurance patient share by 5% through employer partnerships. Revenue impact: +$1.8M based on $18K avg bill vs $13.5K network avg.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880360"/>
            <a:ext cx="4160520" cy="1874520"/>
          </a:xfrm>
          <a:prstGeom prst="rect">
            <a:avLst/>
          </a:prstGeom>
          <a:solidFill>
            <a:srgbClr val="0D3347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3017520"/>
            <a:ext cx="475488" cy="47548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0175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38160" y="3063240"/>
            <a:ext cx="640080" cy="2286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38160" y="306324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53212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 Reduction Program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47472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patients in 8–14d LOS bucket for early discharge planning. A 1-day reduction across 400 annual long-stay patients saves ~$2.7M in operational costs.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2344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Patient Analytics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188720" y="2148840"/>
            <a:ext cx="1600200" cy="1554480"/>
          </a:xfrm>
          <a:prstGeom prst="rect">
            <a:avLst/>
          </a:prstGeom>
          <a:solidFill>
            <a:srgbClr val="028090">
              <a:alpha val="4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21284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88720" y="2651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294436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sheets, pivot tables, data cleaning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063240" y="2148840"/>
            <a:ext cx="1600200" cy="1554480"/>
          </a:xfrm>
          <a:prstGeom prst="rect">
            <a:avLst/>
          </a:prstGeom>
          <a:solidFill>
            <a:srgbClr val="028090">
              <a:alpha val="4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221284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63240" y="2651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63240" y="294436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queries, CTEs, window functions, 2 views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937760" y="2148840"/>
            <a:ext cx="1600200" cy="1554480"/>
          </a:xfrm>
          <a:prstGeom prst="rect">
            <a:avLst/>
          </a:prstGeom>
          <a:solidFill>
            <a:srgbClr val="028090">
              <a:alpha val="4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21284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937760" y="2651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94436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7-panel dashboard, financial analysis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812280" y="2148840"/>
            <a:ext cx="1600200" cy="1554480"/>
          </a:xfrm>
          <a:prstGeom prst="rect">
            <a:avLst/>
          </a:prstGeom>
          <a:solidFill>
            <a:srgbClr val="028090">
              <a:alpha val="4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12280" y="2212848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12280" y="2651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2944368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EC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dashboards, 9+ charts, interactive filters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Healthcare Data Analytics  ·  Built for Intermediate Analysts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4343400"/>
            <a:ext cx="27432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Patient Analytics – 2023</dc:title>
  <dc:subject>PptxGenJS Presentation</dc:subject>
  <dc:creator>Healthcare Analytics Team</dc:creator>
  <cp:lastModifiedBy>Healthcare Analytics Team</cp:lastModifiedBy>
  <cp:revision>1</cp:revision>
  <dcterms:created xsi:type="dcterms:W3CDTF">2026-03-13T17:29:55Z</dcterms:created>
  <dcterms:modified xsi:type="dcterms:W3CDTF">2026-03-13T17:29:55Z</dcterms:modified>
</cp:coreProperties>
</file>